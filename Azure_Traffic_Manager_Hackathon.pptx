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1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3.png"/><Relationship Id="rId5" Type="http://schemas.openxmlformats.org/officeDocument/2006/relationships/image" Target="../media/image-3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image" Target="../media/image-7-1.png"/><Relationship Id="rId7" Type="http://schemas.openxmlformats.org/officeDocument/2006/relationships/image" Target="../media/image-7-1.png"/><Relationship Id="rId8" Type="http://schemas.openxmlformats.org/officeDocument/2006/relationships/image" Target="../media/image-7-1.png"/><Relationship Id="rId9" Type="http://schemas.openxmlformats.org/officeDocument/2006/relationships/image" Target="../media/image-7-1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5284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731520"/>
            <a:ext cx="3291840" cy="3291840"/>
          </a:xfrm>
          <a:prstGeom prst="ellipse">
            <a:avLst/>
          </a:prstGeom>
          <a:solidFill>
            <a:srgbClr val="19305C"/>
          </a:solidFill>
          <a:ln/>
        </p:spPr>
      </p:sp>
      <p:pic>
        <p:nvPicPr>
          <p:cNvPr id="4" name="Image 0" descr="/home/claude/deck/icon_cloud_0078D4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9235440" y="502920"/>
            <a:ext cx="2011680" cy="2011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 ·  HACKATHON 2026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224028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Traffic Manager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Multi-Region Routing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21792" y="39776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Resilient Multi-Region Web Application on Microsoft Azure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" y="4617720"/>
            <a:ext cx="292608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489204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1B2E5C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489204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947672" y="489204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B2E5C"/>
          </a:solidFill>
          <a:ln/>
        </p:spPr>
      </p:sp>
      <p:sp>
        <p:nvSpPr>
          <p:cNvPr id="12" name="Text 9"/>
          <p:cNvSpPr/>
          <p:nvPr/>
        </p:nvSpPr>
        <p:spPr>
          <a:xfrm>
            <a:off x="1947672" y="48920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529584" y="4892040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1B2E5C"/>
          </a:solidFill>
          <a:ln/>
        </p:spPr>
      </p:sp>
      <p:sp>
        <p:nvSpPr>
          <p:cNvPr id="14" name="Text 11"/>
          <p:cNvSpPr/>
          <p:nvPr/>
        </p:nvSpPr>
        <p:spPr>
          <a:xfrm>
            <a:off x="3529584" y="48920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App Service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751576" y="4892040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1B2E5C"/>
          </a:solidFill>
          <a:ln/>
        </p:spPr>
      </p:sp>
      <p:sp>
        <p:nvSpPr>
          <p:cNvPr id="16" name="Text 13"/>
          <p:cNvSpPr/>
          <p:nvPr/>
        </p:nvSpPr>
        <p:spPr>
          <a:xfrm>
            <a:off x="5751576" y="48920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Manager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790688" y="489204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1B2E5C"/>
          </a:solidFill>
          <a:ln/>
        </p:spPr>
      </p:sp>
      <p:sp>
        <p:nvSpPr>
          <p:cNvPr id="18" name="Text 15"/>
          <p:cNvSpPr/>
          <p:nvPr/>
        </p:nvSpPr>
        <p:spPr>
          <a:xfrm>
            <a:off x="7790688" y="48920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0080" y="5623560"/>
            <a:ext cx="10881360" cy="18288"/>
          </a:xfrm>
          <a:prstGeom prst="rect">
            <a:avLst/>
          </a:prstGeom>
          <a:solidFill>
            <a:srgbClr val="27407A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806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Team Name]</a:t>
            </a:r>
            <a:pPr indent="0" marL="0">
              <a:buNone/>
            </a:pPr>
            <a:r>
              <a:rPr lang="en-US" sz="1200" b="1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Presented by: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[Presenter Name(s)]</a:t>
            </a:r>
            <a:endParaRPr lang="en-US" sz="1200" dirty="0"/>
          </a:p>
        </p:txBody>
      </p:sp>
      <p:pic>
        <p:nvPicPr>
          <p:cNvPr id="21" name="Image 1" descr="/home/claude/deck/icon_github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63640"/>
            <a:ext cx="219456" cy="21945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932688" y="6245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C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github.com/Subhankar571/Azure-Traffic-Manager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Objective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E5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FDECEA"/>
          </a:solidFill>
          <a:ln/>
        </p:spPr>
      </p:sp>
      <p:pic>
        <p:nvPicPr>
          <p:cNvPr id="6" name="Image 0" descr="/home/claude/deck/icon_alert_D134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98424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74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2560320"/>
            <a:ext cx="4754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324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Single-region applications can become unavailable during regional failures.</a:t>
            </a:r>
            <a:endParaRPr lang="en-US" sz="1450" dirty="0"/>
          </a:p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324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failover can increase downtime and require human intervention.</a:t>
            </a:r>
            <a:endParaRPr lang="en-US" sz="1450" dirty="0"/>
          </a:p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324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should be routed toward healthy regions automatically — without waiting on an operator.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0F1B3D"/>
          </a:solidFill>
          <a:ln/>
          <a:effectLst>
            <a:outerShdw sx="100000" sy="100000" kx="0" ky="0" algn="bl" rotWithShape="0" blurRad="101600" dist="38100" dir="5400000">
              <a:srgbClr val="1B2E5C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874520"/>
            <a:ext cx="502920" cy="502920"/>
          </a:xfrm>
          <a:prstGeom prst="ellipse">
            <a:avLst/>
          </a:prstGeom>
          <a:solidFill>
            <a:srgbClr val="1B2E5C"/>
          </a:solidFill>
          <a:ln/>
        </p:spPr>
      </p:sp>
      <p:pic>
        <p:nvPicPr>
          <p:cNvPr id="11" name="Image 1" descr="/home/claude/deck/icon_shield_50E6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1984248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874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583680" y="251460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✓"/>
            </a:pPr>
            <a:r>
              <a:rPr lang="en-US" sz="1450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application across multiple Azure regions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✓"/>
            </a:pPr>
            <a:r>
              <a:rPr lang="en-US" sz="1450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traffic using Azure Traffic Manager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✓"/>
            </a:pPr>
            <a:r>
              <a:rPr lang="en-US" sz="1450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application health continuously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✓"/>
            </a:pPr>
            <a:r>
              <a:rPr lang="en-US" sz="1450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automatic regional failover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48640" y="5212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4360" y="5394960"/>
            <a:ext cx="548640" cy="548640"/>
          </a:xfrm>
          <a:prstGeom prst="ellipse">
            <a:avLst/>
          </a:prstGeom>
          <a:solidFill>
            <a:srgbClr val="E8F1FC"/>
          </a:solidFill>
          <a:ln/>
        </p:spPr>
      </p:sp>
      <p:pic>
        <p:nvPicPr>
          <p:cNvPr id="16" name="Image 2" descr="/home/claude/deck/icon_users_0F1B3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51383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535838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280160" y="56692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access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867912" y="5596128"/>
            <a:ext cx="502920" cy="146304"/>
          </a:xfrm>
          <a:prstGeom prst="rightArrow">
            <a:avLst/>
          </a:prstGeom>
          <a:solidFill>
            <a:srgbClr val="B9C6E3"/>
          </a:solidFill>
          <a:ln/>
        </p:spPr>
      </p:sp>
      <p:sp>
        <p:nvSpPr>
          <p:cNvPr id="20" name="Shape 15"/>
          <p:cNvSpPr/>
          <p:nvPr/>
        </p:nvSpPr>
        <p:spPr>
          <a:xfrm>
            <a:off x="4480560" y="5394960"/>
            <a:ext cx="548640" cy="548640"/>
          </a:xfrm>
          <a:prstGeom prst="ellipse">
            <a:avLst/>
          </a:prstGeom>
          <a:solidFill>
            <a:srgbClr val="FDECEA"/>
          </a:solidFill>
          <a:ln/>
        </p:spPr>
      </p:sp>
      <p:pic>
        <p:nvPicPr>
          <p:cNvPr id="21" name="Image 3" descr="/home/claude/deck/icon_alert_D1343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551383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166360" y="535838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Failure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166360" y="56692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region goes down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7754112" y="5596128"/>
            <a:ext cx="502920" cy="146304"/>
          </a:xfrm>
          <a:prstGeom prst="rightArrow">
            <a:avLst/>
          </a:prstGeom>
          <a:solidFill>
            <a:srgbClr val="B9C6E3"/>
          </a:solidFill>
          <a:ln/>
        </p:spPr>
      </p:sp>
      <p:sp>
        <p:nvSpPr>
          <p:cNvPr id="25" name="Shape 19"/>
          <p:cNvSpPr/>
          <p:nvPr/>
        </p:nvSpPr>
        <p:spPr>
          <a:xfrm>
            <a:off x="8366760" y="5394960"/>
            <a:ext cx="548640" cy="548640"/>
          </a:xfrm>
          <a:prstGeom prst="ellipse">
            <a:avLst/>
          </a:prstGeom>
          <a:solidFill>
            <a:srgbClr val="FDECEA"/>
          </a:solidFill>
          <a:ln/>
        </p:spPr>
      </p:sp>
      <p:pic>
        <p:nvPicPr>
          <p:cNvPr id="26" name="Image 4" descr="/home/claude/deck/icon_xcircle_D1343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5513832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052560" y="535838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Disruption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9052560" y="56692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automatic routing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Traffic Manager Multi-Region Routing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000232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Multi-Region Azure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180076" y="150876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0F1B3D"/>
          </a:solidFill>
          <a:ln/>
        </p:spPr>
      </p:sp>
      <p:pic>
        <p:nvPicPr>
          <p:cNvPr id="5" name="Image 0" descr="/home/claude/deck/icon_us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1244" y="163677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28716" y="15087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094476" y="2057400"/>
            <a:ext cx="0" cy="365760"/>
          </a:xfrm>
          <a:prstGeom prst="line">
            <a:avLst/>
          </a:prstGeom>
          <a:noFill/>
          <a:ln w="25400">
            <a:solidFill>
              <a:srgbClr val="9AA7C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12180" y="2313432"/>
            <a:ext cx="164592" cy="146304"/>
          </a:xfrm>
          <a:prstGeom prst="downArrow">
            <a:avLst/>
          </a:prstGeom>
          <a:solidFill>
            <a:srgbClr val="9AA7C2"/>
          </a:solidFill>
          <a:ln/>
        </p:spPr>
      </p:sp>
      <p:sp>
        <p:nvSpPr>
          <p:cNvPr id="9" name="Shape 6"/>
          <p:cNvSpPr/>
          <p:nvPr/>
        </p:nvSpPr>
        <p:spPr>
          <a:xfrm>
            <a:off x="3991356" y="2468880"/>
            <a:ext cx="4206240" cy="777240"/>
          </a:xfrm>
          <a:prstGeom prst="roundRect">
            <a:avLst>
              <a:gd name="adj" fmla="val 11765"/>
            </a:avLst>
          </a:prstGeom>
          <a:solidFill>
            <a:srgbClr val="0078D4"/>
          </a:solidFill>
          <a:ln/>
          <a:effectLst>
            <a:outerShdw sx="100000" sy="100000" kx="0" ky="0" algn="bl" rotWithShape="0" blurRad="127000" dist="38100" dir="5400000">
              <a:srgbClr val="0078D4">
                <a:alpha val="25000"/>
              </a:srgbClr>
            </a:outerShdw>
          </a:effectLst>
        </p:spPr>
      </p:sp>
      <p:pic>
        <p:nvPicPr>
          <p:cNvPr id="10" name="Image 1" descr="/home/claude/deck/icon_glob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9956" y="2670048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22876" y="2542032"/>
            <a:ext cx="3291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Traffic Manager</a:t>
            </a:r>
            <a:endParaRPr lang="en-US" sz="15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Routing  ·  atm-hackathon-2026.trafficmanager.net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2391156" y="3502152"/>
            <a:ext cx="7406640" cy="0"/>
          </a:xfrm>
          <a:prstGeom prst="line">
            <a:avLst/>
          </a:prstGeom>
          <a:noFill/>
          <a:ln w="25400">
            <a:solidFill>
              <a:srgbClr val="9AA7C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094476" y="3246120"/>
            <a:ext cx="0" cy="256032"/>
          </a:xfrm>
          <a:prstGeom prst="line">
            <a:avLst/>
          </a:prstGeom>
          <a:noFill/>
          <a:ln w="25400">
            <a:solidFill>
              <a:srgbClr val="9AA7C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391156" y="3502152"/>
            <a:ext cx="0" cy="429768"/>
          </a:xfrm>
          <a:prstGeom prst="line">
            <a:avLst/>
          </a:prstGeom>
          <a:noFill/>
          <a:ln w="25400">
            <a:solidFill>
              <a:srgbClr val="9AA7C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318004" y="3803904"/>
            <a:ext cx="146304" cy="128016"/>
          </a:xfrm>
          <a:prstGeom prst="downArrow">
            <a:avLst/>
          </a:prstGeom>
          <a:solidFill>
            <a:srgbClr val="9AA7C2"/>
          </a:solidFill>
          <a:ln/>
        </p:spPr>
      </p:sp>
      <p:sp>
        <p:nvSpPr>
          <p:cNvPr id="16" name="Shape 12"/>
          <p:cNvSpPr/>
          <p:nvPr/>
        </p:nvSpPr>
        <p:spPr>
          <a:xfrm>
            <a:off x="6094476" y="3502152"/>
            <a:ext cx="0" cy="429768"/>
          </a:xfrm>
          <a:prstGeom prst="line">
            <a:avLst/>
          </a:prstGeom>
          <a:noFill/>
          <a:ln w="25400">
            <a:solidFill>
              <a:srgbClr val="9AA7C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21324" y="3803904"/>
            <a:ext cx="146304" cy="128016"/>
          </a:xfrm>
          <a:prstGeom prst="downArrow">
            <a:avLst/>
          </a:prstGeom>
          <a:solidFill>
            <a:srgbClr val="9AA7C2"/>
          </a:solidFill>
          <a:ln/>
        </p:spPr>
      </p:sp>
      <p:sp>
        <p:nvSpPr>
          <p:cNvPr id="18" name="Shape 14"/>
          <p:cNvSpPr/>
          <p:nvPr/>
        </p:nvSpPr>
        <p:spPr>
          <a:xfrm>
            <a:off x="9797796" y="3502152"/>
            <a:ext cx="0" cy="429768"/>
          </a:xfrm>
          <a:prstGeom prst="line">
            <a:avLst/>
          </a:prstGeom>
          <a:noFill/>
          <a:ln w="25400">
            <a:solidFill>
              <a:srgbClr val="9AA7C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724644" y="3803904"/>
            <a:ext cx="146304" cy="128016"/>
          </a:xfrm>
          <a:prstGeom prst="downArrow">
            <a:avLst/>
          </a:prstGeom>
          <a:solidFill>
            <a:srgbClr val="9AA7C2"/>
          </a:solidFill>
          <a:ln/>
        </p:spPr>
      </p:sp>
      <p:sp>
        <p:nvSpPr>
          <p:cNvPr id="20" name="Shape 16"/>
          <p:cNvSpPr/>
          <p:nvPr/>
        </p:nvSpPr>
        <p:spPr>
          <a:xfrm>
            <a:off x="790956" y="393192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DDE5F3"/>
            </a:solidFill>
            <a:prstDash val="solid"/>
          </a:ln>
          <a:effectLst>
            <a:outerShdw sx="100000" sy="100000" kx="0" ky="0" algn="bl" rotWithShape="0" blurRad="76200" dist="25400" dir="5400000">
              <a:srgbClr val="1B2E5C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992124" y="4114800"/>
            <a:ext cx="420624" cy="420624"/>
          </a:xfrm>
          <a:prstGeom prst="ellipse">
            <a:avLst/>
          </a:prstGeom>
          <a:solidFill>
            <a:srgbClr val="E8F1FC"/>
          </a:solidFill>
          <a:ln/>
        </p:spPr>
      </p:sp>
      <p:pic>
        <p:nvPicPr>
          <p:cNvPr id="22" name="Image 2" descr="/home/claude/deck/icon_server_0078D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" y="4215384"/>
            <a:ext cx="219456" cy="2194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522476" y="40782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India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1522476" y="433425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992124" y="4645152"/>
            <a:ext cx="2798064" cy="9144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26" name="Text 21"/>
          <p:cNvSpPr/>
          <p:nvPr/>
        </p:nvSpPr>
        <p:spPr>
          <a:xfrm>
            <a:off x="992124" y="4718304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REGION=INDIA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992124" y="4928616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/health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4494276" y="393192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DDE5F3"/>
            </a:solidFill>
            <a:prstDash val="solid"/>
          </a:ln>
          <a:effectLst>
            <a:outerShdw sx="100000" sy="100000" kx="0" ky="0" algn="bl" rotWithShape="0" blurRad="76200" dist="25400" dir="5400000">
              <a:srgbClr val="1B2E5C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695444" y="4114800"/>
            <a:ext cx="420624" cy="420624"/>
          </a:xfrm>
          <a:prstGeom prst="ellipse">
            <a:avLst/>
          </a:prstGeom>
          <a:solidFill>
            <a:srgbClr val="E8F1FC"/>
          </a:solidFill>
          <a:ln/>
        </p:spPr>
      </p:sp>
      <p:pic>
        <p:nvPicPr>
          <p:cNvPr id="30" name="Image 3" descr="/home/claude/deck/icon_server_0078D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6028" y="4215384"/>
            <a:ext cx="219456" cy="21945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225796" y="40782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Asia</a:t>
            </a:r>
            <a:endParaRPr lang="en-US" sz="1350" dirty="0"/>
          </a:p>
        </p:txBody>
      </p:sp>
      <p:sp>
        <p:nvSpPr>
          <p:cNvPr id="32" name="Text 26"/>
          <p:cNvSpPr/>
          <p:nvPr/>
        </p:nvSpPr>
        <p:spPr>
          <a:xfrm>
            <a:off x="5225796" y="433425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4695444" y="4645152"/>
            <a:ext cx="2798064" cy="9144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34" name="Text 28"/>
          <p:cNvSpPr/>
          <p:nvPr/>
        </p:nvSpPr>
        <p:spPr>
          <a:xfrm>
            <a:off x="4695444" y="4718304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REGION=EAST-ASIA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4695444" y="4928616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/health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8197596" y="393192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DDE5F3"/>
            </a:solidFill>
            <a:prstDash val="solid"/>
          </a:ln>
          <a:effectLst>
            <a:outerShdw sx="100000" sy="100000" kx="0" ky="0" algn="bl" rotWithShape="0" blurRad="76200" dist="25400" dir="5400000">
              <a:srgbClr val="1B2E5C">
                <a:alpha val="10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8398764" y="4114800"/>
            <a:ext cx="420624" cy="420624"/>
          </a:xfrm>
          <a:prstGeom prst="ellipse">
            <a:avLst/>
          </a:prstGeom>
          <a:solidFill>
            <a:srgbClr val="E8F1FC"/>
          </a:solidFill>
          <a:ln/>
        </p:spPr>
      </p:sp>
      <p:pic>
        <p:nvPicPr>
          <p:cNvPr id="38" name="Image 4" descr="/home/claude/deck/icon_server_0078D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9348" y="4215384"/>
            <a:ext cx="219456" cy="219456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8929116" y="40782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 Central</a:t>
            </a:r>
            <a:endParaRPr lang="en-US" sz="1350" dirty="0"/>
          </a:p>
        </p:txBody>
      </p:sp>
      <p:sp>
        <p:nvSpPr>
          <p:cNvPr id="40" name="Text 33"/>
          <p:cNvSpPr/>
          <p:nvPr/>
        </p:nvSpPr>
        <p:spPr>
          <a:xfrm>
            <a:off x="8929116" y="433425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8398764" y="4645152"/>
            <a:ext cx="2798064" cy="9144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42" name="Text 35"/>
          <p:cNvSpPr/>
          <p:nvPr/>
        </p:nvSpPr>
        <p:spPr>
          <a:xfrm>
            <a:off x="8398764" y="4718304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REGION=KOREA-CENTRAL</a:t>
            </a:r>
            <a:endParaRPr lang="en-US" sz="950" dirty="0"/>
          </a:p>
        </p:txBody>
      </p:sp>
      <p:sp>
        <p:nvSpPr>
          <p:cNvPr id="43" name="Text 36"/>
          <p:cNvSpPr/>
          <p:nvPr/>
        </p:nvSpPr>
        <p:spPr>
          <a:xfrm>
            <a:off x="8398764" y="4928616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A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/health</a:t>
            </a:r>
            <a:endParaRPr lang="en-US" sz="950" dirty="0"/>
          </a:p>
        </p:txBody>
      </p:sp>
      <p:sp>
        <p:nvSpPr>
          <p:cNvPr id="44" name="Text 37"/>
          <p:cNvSpPr/>
          <p:nvPr/>
        </p:nvSpPr>
        <p:spPr>
          <a:xfrm>
            <a:off x="548640" y="56692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independent Azure App Services</a:t>
            </a:r>
            <a:endParaRPr lang="en-US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Performance-based DNS routing</a:t>
            </a:r>
            <a:endParaRPr lang="en-US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Health-based endpoint availability</a:t>
            </a:r>
            <a:endParaRPr lang="en-US" sz="1050" dirty="0"/>
          </a:p>
        </p:txBody>
      </p:sp>
      <p:sp>
        <p:nvSpPr>
          <p:cNvPr id="45" name="Text 3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Traffic Manager Multi-Region Routing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11000232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Implementation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5F3"/>
            </a:solidFill>
            <a:prstDash val="solid"/>
          </a:ln>
          <a:effectLst>
            <a:outerShdw sx="100000" sy="100000" kx="0" ky="0" algn="bl" rotWithShape="0" blurRad="76200" dist="25400" dir="5400000">
              <a:srgbClr val="1B2E5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773936"/>
            <a:ext cx="457200" cy="457200"/>
          </a:xfrm>
          <a:prstGeom prst="ellipse">
            <a:avLst/>
          </a:prstGeom>
          <a:solidFill>
            <a:srgbClr val="E8F1FC"/>
          </a:solidFill>
          <a:ln/>
        </p:spPr>
      </p:sp>
      <p:pic>
        <p:nvPicPr>
          <p:cNvPr id="6" name="Image 0" descr="/home/claude/deck/icon_server_0078D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88366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1737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India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389888" y="202996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68096" y="2395728"/>
            <a:ext cx="2990088" cy="9144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2487168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atm-india-demo-2026-1234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97680" y="155448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5F3"/>
            </a:solidFill>
            <a:prstDash val="solid"/>
          </a:ln>
          <a:effectLst>
            <a:outerShdw sx="100000" sy="100000" kx="0" ky="0" algn="bl" rotWithShape="0" blurRad="76200" dist="25400" dir="5400000">
              <a:srgbClr val="1B2E5C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17136" y="1773936"/>
            <a:ext cx="457200" cy="457200"/>
          </a:xfrm>
          <a:prstGeom prst="ellipse">
            <a:avLst/>
          </a:prstGeom>
          <a:solidFill>
            <a:srgbClr val="E8F1FC"/>
          </a:solidFill>
          <a:ln/>
        </p:spPr>
      </p:sp>
      <p:pic>
        <p:nvPicPr>
          <p:cNvPr id="13" name="Image 1" descr="/home/claude/deck/icon_server_0078D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188366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38928" y="1737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Asia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138928" y="202996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17136" y="2395728"/>
            <a:ext cx="2990088" cy="9144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17" name="Text 13"/>
          <p:cNvSpPr/>
          <p:nvPr/>
        </p:nvSpPr>
        <p:spPr>
          <a:xfrm>
            <a:off x="4517136" y="2487168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atm-eastasia-demo-2026-1234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046720" y="155448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5F3"/>
            </a:solidFill>
            <a:prstDash val="solid"/>
          </a:ln>
          <a:effectLst>
            <a:outerShdw sx="100000" sy="100000" kx="0" ky="0" algn="bl" rotWithShape="0" blurRad="76200" dist="25400" dir="5400000">
              <a:srgbClr val="1B2E5C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66176" y="1773936"/>
            <a:ext cx="457200" cy="457200"/>
          </a:xfrm>
          <a:prstGeom prst="ellipse">
            <a:avLst/>
          </a:prstGeom>
          <a:solidFill>
            <a:srgbClr val="E8F1FC"/>
          </a:solidFill>
          <a:ln/>
        </p:spPr>
      </p:sp>
      <p:pic>
        <p:nvPicPr>
          <p:cNvPr id="20" name="Image 2" descr="/home/claude/deck/icon_server_0078D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4" y="1883664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887968" y="1737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 Central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8887968" y="202996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8266176" y="2395728"/>
            <a:ext cx="2990088" cy="9144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24" name="Text 19"/>
          <p:cNvSpPr/>
          <p:nvPr/>
        </p:nvSpPr>
        <p:spPr>
          <a:xfrm>
            <a:off x="8266176" y="2487168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atm-korea-demo-2026-1234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48640" y="320040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0F1B3D"/>
          </a:solidFill>
          <a:ln/>
        </p:spPr>
      </p:sp>
      <p:pic>
        <p:nvPicPr>
          <p:cNvPr id="26" name="Image 3" descr="/home/claude/deck/icon_globe_50E6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419856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325880" y="33649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Manager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325880" y="3675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atm-hackathon-2026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1325880" y="39502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method: Performance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6172200" y="320040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DE5F3"/>
            </a:solidFill>
            <a:prstDash val="solid"/>
          </a:ln>
        </p:spPr>
      </p:sp>
      <p:pic>
        <p:nvPicPr>
          <p:cNvPr id="31" name="Image 4" descr="/home/claude/deck/icon_activity_0078D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419856"/>
            <a:ext cx="384048" cy="38404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949440" y="334670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Probe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6949440" y="36576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  ·  Port 443  ·  /health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6949440" y="395020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automated availability checks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548640" y="4572000"/>
            <a:ext cx="11091672" cy="9144"/>
          </a:xfrm>
          <a:prstGeom prst="rect">
            <a:avLst/>
          </a:prstGeom>
          <a:solidFill>
            <a:srgbClr val="E1E7F2"/>
          </a:solidFill>
          <a:ln/>
        </p:spPr>
      </p:sp>
      <p:sp>
        <p:nvSpPr>
          <p:cNvPr id="36" name="Text 29"/>
          <p:cNvSpPr/>
          <p:nvPr/>
        </p:nvSpPr>
        <p:spPr>
          <a:xfrm>
            <a:off x="548640" y="47000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548640" y="502920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/>
        </p:spPr>
      </p:sp>
      <p:sp>
        <p:nvSpPr>
          <p:cNvPr id="38" name="Text 31"/>
          <p:cNvSpPr/>
          <p:nvPr/>
        </p:nvSpPr>
        <p:spPr>
          <a:xfrm>
            <a:off x="548640" y="50292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1874520" y="50292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/>
        </p:spPr>
      </p:sp>
      <p:sp>
        <p:nvSpPr>
          <p:cNvPr id="40" name="Text 33"/>
          <p:cNvSpPr/>
          <p:nvPr/>
        </p:nvSpPr>
        <p:spPr>
          <a:xfrm>
            <a:off x="1874520" y="5029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3474720" y="5029200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/>
        </p:spPr>
      </p:sp>
      <p:sp>
        <p:nvSpPr>
          <p:cNvPr id="42" name="Text 35"/>
          <p:cNvSpPr/>
          <p:nvPr/>
        </p:nvSpPr>
        <p:spPr>
          <a:xfrm>
            <a:off x="3474720" y="50292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App Service</a:t>
            </a:r>
            <a:endParaRPr lang="en-US" sz="1100" dirty="0"/>
          </a:p>
        </p:txBody>
      </p:sp>
      <p:sp>
        <p:nvSpPr>
          <p:cNvPr id="43" name="Shape 36"/>
          <p:cNvSpPr/>
          <p:nvPr/>
        </p:nvSpPr>
        <p:spPr>
          <a:xfrm>
            <a:off x="5715000" y="5029200"/>
            <a:ext cx="2423160" cy="38404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/>
        </p:spPr>
      </p:sp>
      <p:sp>
        <p:nvSpPr>
          <p:cNvPr id="44" name="Text 37"/>
          <p:cNvSpPr/>
          <p:nvPr/>
        </p:nvSpPr>
        <p:spPr>
          <a:xfrm>
            <a:off x="5715000" y="50292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Traffic Manager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8321040" y="502920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/>
        </p:spPr>
      </p:sp>
      <p:sp>
        <p:nvSpPr>
          <p:cNvPr id="46" name="Text 39"/>
          <p:cNvSpPr/>
          <p:nvPr/>
        </p:nvSpPr>
        <p:spPr>
          <a:xfrm>
            <a:off x="8321040" y="502920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47" name="Text 4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Traffic Manager Multi-Region Routing</a:t>
            </a:r>
            <a:endParaRPr lang="en-US" sz="900" dirty="0"/>
          </a:p>
        </p:txBody>
      </p:sp>
      <p:sp>
        <p:nvSpPr>
          <p:cNvPr id="48" name="Text 41"/>
          <p:cNvSpPr/>
          <p:nvPr/>
        </p:nvSpPr>
        <p:spPr>
          <a:xfrm>
            <a:off x="11000232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Monitoring &amp; Automatic Failover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Manager continuously checks the /health endpoint on every region.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492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DE5F3"/>
            </a:solidFill>
            <a:prstDash val="solid"/>
          </a:ln>
          <a:effectLst>
            <a:outerShdw sx="100000" sy="100000" kx="0" ky="0" algn="bl" rotWithShape="0" blurRad="76200" dist="25400" dir="5400000">
              <a:srgbClr val="1B2E5C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48840"/>
            <a:ext cx="457200" cy="457200"/>
          </a:xfrm>
          <a:prstGeom prst="ellipse">
            <a:avLst/>
          </a:prstGeom>
          <a:solidFill>
            <a:srgbClr val="E6F4E6"/>
          </a:solidFill>
          <a:ln/>
        </p:spPr>
      </p:sp>
      <p:pic>
        <p:nvPicPr>
          <p:cNvPr id="7" name="Image 0" descr="/home/claude/deck/icon_check_107C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24942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148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Healthy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22960" y="283464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E6F4E6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80160" y="285292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24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200 returned from /health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" y="340156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E6F4E6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3401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280160" y="341985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24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confirms endpoint is responsive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" y="3968496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E6F4E6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3968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280160" y="398678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24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remains Online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22960" y="4535424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E6F4E6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4535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280160" y="455371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24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to receive user traffic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263640" y="1874520"/>
            <a:ext cx="53492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F3C9C9"/>
            </a:solidFill>
            <a:prstDash val="solid"/>
          </a:ln>
          <a:effectLst>
            <a:outerShdw sx="100000" sy="100000" kx="0" ky="0" algn="bl" rotWithShape="0" blurRad="76200" dist="25400" dir="5400000">
              <a:srgbClr val="1B2E5C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537960" y="2148840"/>
            <a:ext cx="457200" cy="457200"/>
          </a:xfrm>
          <a:prstGeom prst="ellipse">
            <a:avLst/>
          </a:prstGeom>
          <a:solidFill>
            <a:srgbClr val="FDECEA"/>
          </a:solidFill>
          <a:ln/>
        </p:spPr>
      </p:sp>
      <p:pic>
        <p:nvPicPr>
          <p:cNvPr id="23" name="Image 1" descr="/home/claude/deck/icon_xcircle_D1343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2249424"/>
            <a:ext cx="256032" cy="25603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132320" y="2148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</a:t>
            </a:r>
            <a:endParaRPr lang="en-US" sz="1700" dirty="0"/>
          </a:p>
        </p:txBody>
      </p:sp>
      <p:sp>
        <p:nvSpPr>
          <p:cNvPr id="25" name="Shape 21"/>
          <p:cNvSpPr/>
          <p:nvPr/>
        </p:nvSpPr>
        <p:spPr>
          <a:xfrm>
            <a:off x="6537960" y="283464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DECEA"/>
          </a:solidFill>
          <a:ln/>
        </p:spPr>
      </p:sp>
      <p:sp>
        <p:nvSpPr>
          <p:cNvPr id="26" name="Text 22"/>
          <p:cNvSpPr/>
          <p:nvPr/>
        </p:nvSpPr>
        <p:spPr>
          <a:xfrm>
            <a:off x="6537960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1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995160" y="28529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24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503 returned from /health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537960" y="340156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DECEA"/>
          </a:solidFill>
          <a:ln/>
        </p:spPr>
      </p:sp>
      <p:sp>
        <p:nvSpPr>
          <p:cNvPr id="29" name="Text 25"/>
          <p:cNvSpPr/>
          <p:nvPr/>
        </p:nvSpPr>
        <p:spPr>
          <a:xfrm>
            <a:off x="6537960" y="3401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1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6995160" y="341985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24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Manager detects the unhealthy endpoint</a:t>
            </a:r>
            <a:endParaRPr lang="en-US" sz="1250" dirty="0"/>
          </a:p>
        </p:txBody>
      </p:sp>
      <p:sp>
        <p:nvSpPr>
          <p:cNvPr id="31" name="Shape 27"/>
          <p:cNvSpPr/>
          <p:nvPr/>
        </p:nvSpPr>
        <p:spPr>
          <a:xfrm>
            <a:off x="6537960" y="3968496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DECEA"/>
          </a:solidFill>
          <a:ln/>
        </p:spPr>
      </p:sp>
      <p:sp>
        <p:nvSpPr>
          <p:cNvPr id="32" name="Text 28"/>
          <p:cNvSpPr/>
          <p:nvPr/>
        </p:nvSpPr>
        <p:spPr>
          <a:xfrm>
            <a:off x="6537960" y="3968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1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6995160" y="398678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24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becomes Degraded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6537960" y="4535424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DECEA"/>
          </a:solidFill>
          <a:ln/>
        </p:spPr>
      </p:sp>
      <p:sp>
        <p:nvSpPr>
          <p:cNvPr id="35" name="Text 31"/>
          <p:cNvSpPr/>
          <p:nvPr/>
        </p:nvSpPr>
        <p:spPr>
          <a:xfrm>
            <a:off x="6537960" y="4535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1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6995160" y="455371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24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routing moves toward a healthy endpoint</a:t>
            </a:r>
            <a:endParaRPr lang="en-US" sz="1250" dirty="0"/>
          </a:p>
        </p:txBody>
      </p:sp>
      <p:sp>
        <p:nvSpPr>
          <p:cNvPr id="37" name="Shape 33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F1B3D"/>
          </a:solidFill>
          <a:ln/>
        </p:spPr>
      </p:sp>
      <p:sp>
        <p:nvSpPr>
          <p:cNvPr id="38" name="Text 34"/>
          <p:cNvSpPr/>
          <p:nvPr/>
        </p:nvSpPr>
        <p:spPr>
          <a:xfrm>
            <a:off x="548640" y="5458968"/>
            <a:ext cx="368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0E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sec</a:t>
            </a:r>
            <a:endParaRPr lang="en-US" sz="2600" dirty="0"/>
          </a:p>
        </p:txBody>
      </p:sp>
      <p:sp>
        <p:nvSpPr>
          <p:cNvPr id="39" name="Text 35"/>
          <p:cNvSpPr/>
          <p:nvPr/>
        </p:nvSpPr>
        <p:spPr>
          <a:xfrm>
            <a:off x="548640" y="5916168"/>
            <a:ext cx="368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AEC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INTERVAL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4236720" y="5458968"/>
            <a:ext cx="368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0E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41" name="Text 37"/>
          <p:cNvSpPr/>
          <p:nvPr/>
        </p:nvSpPr>
        <p:spPr>
          <a:xfrm>
            <a:off x="4236720" y="5916168"/>
            <a:ext cx="368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AEC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TOLERATED FAILURES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4236720" y="5513832"/>
            <a:ext cx="0" cy="539496"/>
          </a:xfrm>
          <a:prstGeom prst="line">
            <a:avLst/>
          </a:prstGeom>
          <a:noFill/>
          <a:ln w="12700">
            <a:solidFill>
              <a:srgbClr val="2B3F6B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7924800" y="5458968"/>
            <a:ext cx="368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0E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sec</a:t>
            </a:r>
            <a:endParaRPr lang="en-US" sz="2600" dirty="0"/>
          </a:p>
        </p:txBody>
      </p:sp>
      <p:sp>
        <p:nvSpPr>
          <p:cNvPr id="44" name="Text 40"/>
          <p:cNvSpPr/>
          <p:nvPr/>
        </p:nvSpPr>
        <p:spPr>
          <a:xfrm>
            <a:off x="7924800" y="5916168"/>
            <a:ext cx="368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AEC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7924800" y="5513832"/>
            <a:ext cx="0" cy="539496"/>
          </a:xfrm>
          <a:prstGeom prst="line">
            <a:avLst/>
          </a:prstGeom>
          <a:noFill/>
          <a:ln w="12700">
            <a:solidFill>
              <a:srgbClr val="2B3F6B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Traffic Manager Multi-Region Routing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11000232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528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HIGHLIGHT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Failover Demonstration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16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12321A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719072"/>
            <a:ext cx="146304" cy="146304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50876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0" y="150876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508760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12321A"/>
          </a:solidFill>
          <a:ln/>
        </p:spPr>
      </p:sp>
      <p:sp>
        <p:nvSpPr>
          <p:cNvPr id="11" name="Shape 9"/>
          <p:cNvSpPr/>
          <p:nvPr/>
        </p:nvSpPr>
        <p:spPr>
          <a:xfrm>
            <a:off x="4544568" y="1719072"/>
            <a:ext cx="146304" cy="146304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50876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Asia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95160" y="150876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508760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12321A"/>
          </a:solidFill>
          <a:ln/>
        </p:spPr>
      </p:sp>
      <p:sp>
        <p:nvSpPr>
          <p:cNvPr id="15" name="Shape 13"/>
          <p:cNvSpPr/>
          <p:nvPr/>
        </p:nvSpPr>
        <p:spPr>
          <a:xfrm>
            <a:off x="8339328" y="1719072"/>
            <a:ext cx="146304" cy="146304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0" y="150876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 Central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789920" y="150876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23317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B2E5C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19" name="Image 0" descr="/home/claude/deck/icon_zap_FFB9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551176"/>
            <a:ext cx="329184" cy="32918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234440" y="233172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SIMULATE_FAILURE=true</a:t>
            </a:r>
            <a:pPr indent="0" marL="0">
              <a:buNone/>
            </a:pPr>
            <a:r>
              <a:rPr lang="en-US" sz="12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on the India App Service  →  </a:t>
            </a:r>
            <a:pPr indent="0" marL="0">
              <a:buNone/>
            </a:pPr>
            <a:r>
              <a:rPr lang="en-US" sz="1300" b="1" dirty="0">
                <a:solidFill>
                  <a:srgbClr val="5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 returns HTTP 503</a:t>
            </a:r>
            <a:pPr indent="0" marL="0">
              <a:buNone/>
            </a:pPr>
            <a:r>
              <a:rPr lang="en-US" sz="12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Traffic Manager detects the failure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48640" y="31363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3429000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3B1414"/>
          </a:solidFill>
          <a:ln/>
        </p:spPr>
      </p:sp>
      <p:sp>
        <p:nvSpPr>
          <p:cNvPr id="23" name="Shape 20"/>
          <p:cNvSpPr/>
          <p:nvPr/>
        </p:nvSpPr>
        <p:spPr>
          <a:xfrm>
            <a:off x="749808" y="3639312"/>
            <a:ext cx="146304" cy="146304"/>
          </a:xfrm>
          <a:prstGeom prst="ellipse">
            <a:avLst/>
          </a:prstGeom>
          <a:solidFill>
            <a:srgbClr val="D13438"/>
          </a:solidFill>
          <a:ln/>
        </p:spPr>
      </p:sp>
      <p:sp>
        <p:nvSpPr>
          <p:cNvPr id="24" name="Text 21"/>
          <p:cNvSpPr/>
          <p:nvPr/>
        </p:nvSpPr>
        <p:spPr>
          <a:xfrm>
            <a:off x="1005840" y="34290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200400" y="342900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1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343400" y="3429000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12321A"/>
          </a:solidFill>
          <a:ln/>
        </p:spPr>
      </p:sp>
      <p:sp>
        <p:nvSpPr>
          <p:cNvPr id="27" name="Shape 24"/>
          <p:cNvSpPr/>
          <p:nvPr/>
        </p:nvSpPr>
        <p:spPr>
          <a:xfrm>
            <a:off x="4544568" y="3639312"/>
            <a:ext cx="146304" cy="146304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28" name="Text 25"/>
          <p:cNvSpPr/>
          <p:nvPr/>
        </p:nvSpPr>
        <p:spPr>
          <a:xfrm>
            <a:off x="4800600" y="34290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Asia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995160" y="342900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8138160" y="3429000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12321A"/>
          </a:solidFill>
          <a:ln/>
        </p:spPr>
      </p:sp>
      <p:sp>
        <p:nvSpPr>
          <p:cNvPr id="31" name="Shape 28"/>
          <p:cNvSpPr/>
          <p:nvPr/>
        </p:nvSpPr>
        <p:spPr>
          <a:xfrm>
            <a:off x="8339328" y="3639312"/>
            <a:ext cx="146304" cy="146304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32" name="Text 29"/>
          <p:cNvSpPr/>
          <p:nvPr/>
        </p:nvSpPr>
        <p:spPr>
          <a:xfrm>
            <a:off x="8595360" y="34290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 Central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10789920" y="342900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548640" y="425196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0A1430"/>
          </a:solidFill>
          <a:ln w="12700">
            <a:solidFill>
              <a:srgbClr val="27407A"/>
            </a:solidFill>
            <a:prstDash val="solid"/>
          </a:ln>
        </p:spPr>
      </p:sp>
      <p:pic>
        <p:nvPicPr>
          <p:cNvPr id="35" name="Image 1" descr="/home/claude/deck/icon_terminal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471416"/>
            <a:ext cx="310896" cy="310896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1234440" y="434340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nslookup verification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 resolved to the East Asia endpoint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6080760" y="4251960"/>
            <a:ext cx="5532120" cy="777240"/>
          </a:xfrm>
          <a:prstGeom prst="roundRect">
            <a:avLst>
              <a:gd name="adj" fmla="val 9412"/>
            </a:avLst>
          </a:prstGeom>
          <a:solidFill>
            <a:srgbClr val="12321A"/>
          </a:solidFill>
          <a:ln w="12700">
            <a:solidFill>
              <a:srgbClr val="1F5C2E"/>
            </a:solidFill>
            <a:prstDash val="solid"/>
          </a:ln>
        </p:spPr>
      </p:sp>
      <p:pic>
        <p:nvPicPr>
          <p:cNvPr id="38" name="Image 2" descr="/home/claude/deck/icon_refresh_107C1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4471416"/>
            <a:ext cx="310896" cy="310896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766560" y="434340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7FDB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SIMULATE_FAILURE=false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CF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recovered — all 3 endpoints Online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0078D4"/>
          </a:solidFill>
          <a:ln/>
          <a:effectLst>
            <a:outerShdw sx="100000" sy="100000" kx="0" ky="0" algn="bl" rotWithShape="0" blurRad="152400" dist="38100" dir="5400000">
              <a:srgbClr val="0078D4">
                <a:alpha val="30000"/>
              </a:srgbClr>
            </a:outerShdw>
          </a:effectLst>
        </p:spPr>
      </p:sp>
      <p:pic>
        <p:nvPicPr>
          <p:cNvPr id="41" name="Image 3" descr="/home/claude/deck/icon_shiel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495544"/>
            <a:ext cx="384048" cy="384048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1508760" y="525780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DNS-level failover successfully demonstrated.</a:t>
            </a:r>
            <a:endParaRPr lang="en-US" sz="1900" dirty="0"/>
          </a:p>
        </p:txBody>
      </p:sp>
      <p:sp>
        <p:nvSpPr>
          <p:cNvPr id="43" name="Text 3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Traffic Manager Multi-Region Routing</a:t>
            </a:r>
            <a:endParaRPr lang="en-US" sz="900" dirty="0"/>
          </a:p>
        </p:txBody>
      </p:sp>
      <p:sp>
        <p:nvSpPr>
          <p:cNvPr id="44" name="Text 38"/>
          <p:cNvSpPr/>
          <p:nvPr/>
        </p:nvSpPr>
        <p:spPr>
          <a:xfrm>
            <a:off x="11000232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286000"/>
            <a:ext cx="5486400" cy="5486400"/>
          </a:xfrm>
          <a:prstGeom prst="ellipse">
            <a:avLst/>
          </a:prstGeom>
          <a:solidFill>
            <a:srgbClr val="1528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Conclusion</a:t>
            </a:r>
            <a:endParaRPr lang="en-US" sz="3200" dirty="0"/>
          </a:p>
        </p:txBody>
      </p:sp>
      <p:pic>
        <p:nvPicPr>
          <p:cNvPr id="5" name="Image 0" descr="/home/claude/deck/icon_check_50E6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8191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9536" y="1554480"/>
            <a:ext cx="5038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Azure regions deployed</a:t>
            </a:r>
            <a:endParaRPr lang="en-US" sz="1250" dirty="0"/>
          </a:p>
        </p:txBody>
      </p:sp>
      <p:pic>
        <p:nvPicPr>
          <p:cNvPr id="7" name="Image 1" descr="/home/claude/deck/icon_check_50E6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11096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9536" y="1883664"/>
            <a:ext cx="5038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application endpoints tested</a:t>
            </a:r>
            <a:endParaRPr lang="en-US" sz="1250" dirty="0"/>
          </a:p>
        </p:txBody>
      </p:sp>
      <p:pic>
        <p:nvPicPr>
          <p:cNvPr id="9" name="Image 2" descr="/home/claude/deck/icon_check_50E6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40280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9536" y="2212848"/>
            <a:ext cx="5038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Manager configured successfully</a:t>
            </a:r>
            <a:endParaRPr lang="en-US" sz="1250" dirty="0"/>
          </a:p>
        </p:txBody>
      </p:sp>
      <p:pic>
        <p:nvPicPr>
          <p:cNvPr id="11" name="Image 3" descr="/home/claude/deck/icon_check_50E6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569464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59536" y="2542032"/>
            <a:ext cx="5038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monitoring verified</a:t>
            </a:r>
            <a:endParaRPr lang="en-US" sz="1250" dirty="0"/>
          </a:p>
        </p:txBody>
      </p:sp>
      <p:pic>
        <p:nvPicPr>
          <p:cNvPr id="13" name="Image 4" descr="/home/claude/deck/icon_check_50E6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898648"/>
            <a:ext cx="201168" cy="2011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59536" y="2871216"/>
            <a:ext cx="5038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failure simulated successfully</a:t>
            </a:r>
            <a:endParaRPr lang="en-US" sz="1250" dirty="0"/>
          </a:p>
        </p:txBody>
      </p:sp>
      <p:pic>
        <p:nvPicPr>
          <p:cNvPr id="15" name="Image 5" descr="/home/claude/deck/icon_check_50E6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1581912"/>
            <a:ext cx="201168" cy="20116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574536" y="1554480"/>
            <a:ext cx="5038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endpoint detected as Degraded</a:t>
            </a:r>
            <a:endParaRPr lang="en-US" sz="1250" dirty="0"/>
          </a:p>
        </p:txBody>
      </p:sp>
      <p:pic>
        <p:nvPicPr>
          <p:cNvPr id="17" name="Image 6" descr="/home/claude/deck/icon_check_50E6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1911096"/>
            <a:ext cx="201168" cy="20116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574536" y="1883664"/>
            <a:ext cx="5038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failover to East Asia verified</a:t>
            </a:r>
            <a:endParaRPr lang="en-US" sz="1250" dirty="0"/>
          </a:p>
        </p:txBody>
      </p:sp>
      <p:pic>
        <p:nvPicPr>
          <p:cNvPr id="19" name="Image 7" descr="/home/claude/deck/icon_check_50E6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2240280"/>
            <a:ext cx="201168" cy="201168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6574536" y="2212848"/>
            <a:ext cx="5038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verified</a:t>
            </a:r>
            <a:endParaRPr lang="en-US" sz="1250" dirty="0"/>
          </a:p>
        </p:txBody>
      </p:sp>
      <p:pic>
        <p:nvPicPr>
          <p:cNvPr id="21" name="Image 8" descr="/home/claude/deck/icon_check_50E6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3640" y="2569464"/>
            <a:ext cx="201168" cy="201168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6574536" y="2542032"/>
            <a:ext cx="5038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tests: 4/4 passed</a:t>
            </a:r>
            <a:endParaRPr lang="en-US" sz="1250" dirty="0"/>
          </a:p>
        </p:txBody>
      </p:sp>
      <p:sp>
        <p:nvSpPr>
          <p:cNvPr id="23" name="Shape 12"/>
          <p:cNvSpPr/>
          <p:nvPr/>
        </p:nvSpPr>
        <p:spPr>
          <a:xfrm>
            <a:off x="548640" y="34290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B2E5C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4" name="Text 13"/>
          <p:cNvSpPr/>
          <p:nvPr/>
        </p:nvSpPr>
        <p:spPr>
          <a:xfrm>
            <a:off x="868680" y="342900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EA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successfully demonstrates a resilient multi-region application architecture using Azure Traffic Manager, performance-based routing, health probes, and automatic DNS failover.</a:t>
            </a:r>
            <a:endParaRPr lang="en-US" sz="1350" dirty="0"/>
          </a:p>
        </p:txBody>
      </p:sp>
      <p:sp>
        <p:nvSpPr>
          <p:cNvPr id="25" name="Text 14"/>
          <p:cNvSpPr/>
          <p:nvPr/>
        </p:nvSpPr>
        <p:spPr>
          <a:xfrm>
            <a:off x="548640" y="4736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26" name="Shape 15"/>
          <p:cNvSpPr/>
          <p:nvPr/>
        </p:nvSpPr>
        <p:spPr>
          <a:xfrm>
            <a:off x="548640" y="5029200"/>
            <a:ext cx="2368296" cy="365760"/>
          </a:xfrm>
          <a:prstGeom prst="roundRect">
            <a:avLst>
              <a:gd name="adj" fmla="val 50000"/>
            </a:avLst>
          </a:prstGeom>
          <a:solidFill>
            <a:srgbClr val="15284F"/>
          </a:solidFill>
          <a:ln/>
        </p:spPr>
      </p:sp>
      <p:sp>
        <p:nvSpPr>
          <p:cNvPr id="27" name="Text 16"/>
          <p:cNvSpPr/>
          <p:nvPr/>
        </p:nvSpPr>
        <p:spPr>
          <a:xfrm>
            <a:off x="548640" y="5029200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EC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/ CI-CD</a:t>
            </a:r>
            <a:endParaRPr lang="en-US" sz="1050" dirty="0"/>
          </a:p>
        </p:txBody>
      </p:sp>
      <p:sp>
        <p:nvSpPr>
          <p:cNvPr id="28" name="Shape 17"/>
          <p:cNvSpPr/>
          <p:nvPr/>
        </p:nvSpPr>
        <p:spPr>
          <a:xfrm>
            <a:off x="3063240" y="5029200"/>
            <a:ext cx="2889504" cy="365760"/>
          </a:xfrm>
          <a:prstGeom prst="roundRect">
            <a:avLst>
              <a:gd name="adj" fmla="val 50000"/>
            </a:avLst>
          </a:prstGeom>
          <a:solidFill>
            <a:srgbClr val="15284F"/>
          </a:solidFill>
          <a:ln/>
        </p:spPr>
      </p:sp>
      <p:sp>
        <p:nvSpPr>
          <p:cNvPr id="29" name="Text 18"/>
          <p:cNvSpPr/>
          <p:nvPr/>
        </p:nvSpPr>
        <p:spPr>
          <a:xfrm>
            <a:off x="3063240" y="5029200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EC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 / App Insights</a:t>
            </a:r>
            <a:endParaRPr lang="en-US" sz="1050" dirty="0"/>
          </a:p>
        </p:txBody>
      </p:sp>
      <p:sp>
        <p:nvSpPr>
          <p:cNvPr id="30" name="Shape 19"/>
          <p:cNvSpPr/>
          <p:nvPr/>
        </p:nvSpPr>
        <p:spPr>
          <a:xfrm>
            <a:off x="6099048" y="5029200"/>
            <a:ext cx="1586484" cy="365760"/>
          </a:xfrm>
          <a:prstGeom prst="roundRect">
            <a:avLst>
              <a:gd name="adj" fmla="val 50000"/>
            </a:avLst>
          </a:prstGeom>
          <a:solidFill>
            <a:srgbClr val="15284F"/>
          </a:solidFill>
          <a:ln/>
        </p:spPr>
      </p:sp>
      <p:sp>
        <p:nvSpPr>
          <p:cNvPr id="31" name="Text 20"/>
          <p:cNvSpPr/>
          <p:nvPr/>
        </p:nvSpPr>
        <p:spPr>
          <a:xfrm>
            <a:off x="6099048" y="5029200"/>
            <a:ext cx="15864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EC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domain</a:t>
            </a:r>
            <a:endParaRPr lang="en-US" sz="1050" dirty="0"/>
          </a:p>
        </p:txBody>
      </p:sp>
      <p:sp>
        <p:nvSpPr>
          <p:cNvPr id="32" name="Shape 21"/>
          <p:cNvSpPr/>
          <p:nvPr/>
        </p:nvSpPr>
        <p:spPr>
          <a:xfrm>
            <a:off x="7831836" y="5029200"/>
            <a:ext cx="1499616" cy="365760"/>
          </a:xfrm>
          <a:prstGeom prst="roundRect">
            <a:avLst>
              <a:gd name="adj" fmla="val 50000"/>
            </a:avLst>
          </a:prstGeom>
          <a:solidFill>
            <a:srgbClr val="15284F"/>
          </a:solidFill>
          <a:ln/>
        </p:spPr>
      </p:sp>
      <p:sp>
        <p:nvSpPr>
          <p:cNvPr id="33" name="Text 22"/>
          <p:cNvSpPr/>
          <p:nvPr/>
        </p:nvSpPr>
        <p:spPr>
          <a:xfrm>
            <a:off x="7831836" y="502920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EC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regions</a:t>
            </a:r>
            <a:endParaRPr lang="en-US" sz="1050" dirty="0"/>
          </a:p>
        </p:txBody>
      </p:sp>
      <p:sp>
        <p:nvSpPr>
          <p:cNvPr id="34" name="Shape 23"/>
          <p:cNvSpPr/>
          <p:nvPr/>
        </p:nvSpPr>
        <p:spPr>
          <a:xfrm>
            <a:off x="9477756" y="5029200"/>
            <a:ext cx="2628900" cy="365760"/>
          </a:xfrm>
          <a:prstGeom prst="roundRect">
            <a:avLst>
              <a:gd name="adj" fmla="val 50000"/>
            </a:avLst>
          </a:prstGeom>
          <a:solidFill>
            <a:srgbClr val="15284F"/>
          </a:solidFill>
          <a:ln/>
        </p:spPr>
      </p:sp>
      <p:sp>
        <p:nvSpPr>
          <p:cNvPr id="35" name="Text 24"/>
          <p:cNvSpPr/>
          <p:nvPr/>
        </p:nvSpPr>
        <p:spPr>
          <a:xfrm>
            <a:off x="9477756" y="5029200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EC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DB replication</a:t>
            </a:r>
            <a:endParaRPr lang="en-US" sz="1050" dirty="0"/>
          </a:p>
        </p:txBody>
      </p:sp>
      <p:pic>
        <p:nvPicPr>
          <p:cNvPr id="36" name="Image 9" descr="/home/claude/deck/icon_github_FFFFFF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5559552"/>
            <a:ext cx="201168" cy="201168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822960" y="55412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C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github.com/Subhankar571/Azure-Traffic-Manager</a:t>
            </a:r>
            <a:endParaRPr lang="en-US" sz="1100" dirty="0"/>
          </a:p>
        </p:txBody>
      </p:sp>
      <p:sp>
        <p:nvSpPr>
          <p:cNvPr id="3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Traffic Manager Multi-Region Routing</a:t>
            </a:r>
            <a:endParaRPr lang="en-US" sz="900" dirty="0"/>
          </a:p>
        </p:txBody>
      </p:sp>
      <p:sp>
        <p:nvSpPr>
          <p:cNvPr id="39" name="Text 27"/>
          <p:cNvSpPr/>
          <p:nvPr/>
        </p:nvSpPr>
        <p:spPr>
          <a:xfrm>
            <a:off x="11000232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2026-09-27T03:18:23Z</dcterms:created>
  <dcterms:modified xsi:type="dcterms:W3CDTF">2026-09-27T03:18:23Z</dcterms:modified>
</cp:coreProperties>
</file>